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81" d="100"/>
          <a:sy n="81" d="100"/>
        </p:scale>
        <p:origin x="6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AB9E95AF-918A-4FA6-A0C2-863843877D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vistul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7BBB2F9F-C278-4855-A196-30FB0E6F51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文件创建于: 2020/5/13 13:50:05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仪表板 1">
            <a:extLst>
              <a:ext uri="{FF2B5EF4-FFF2-40B4-BE49-F238E27FC236}">
                <a16:creationId xmlns:a16="http://schemas.microsoft.com/office/drawing/2014/main" id="{AAF56E12-B097-403E-887E-8B7FF4568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610"/>
            <a:ext cx="12192000" cy="635213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9144264-4629-4896-9256-7C53A6240BA5}"/>
              </a:ext>
            </a:extLst>
          </p:cNvPr>
          <p:cNvSpPr txBox="1"/>
          <p:nvPr/>
        </p:nvSpPr>
        <p:spPr>
          <a:xfrm>
            <a:off x="3091992" y="2639505"/>
            <a:ext cx="148000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hlinkClick r:id="rId3" action="ppaction://hlinksldjump"/>
              </a:rPr>
              <a:t>Vote average for countries</a:t>
            </a:r>
            <a:endParaRPr lang="zh-CN" altLang="en-US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BDA986A-A557-408D-894B-3B37A38BCD58}"/>
              </a:ext>
            </a:extLst>
          </p:cNvPr>
          <p:cNvCxnSpPr/>
          <p:nvPr/>
        </p:nvCxnSpPr>
        <p:spPr>
          <a:xfrm flipV="1">
            <a:off x="3450210" y="2026763"/>
            <a:ext cx="301658" cy="612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E3F7DDC8-3546-4531-BD06-145210A419CE}"/>
              </a:ext>
            </a:extLst>
          </p:cNvPr>
          <p:cNvSpPr txBox="1"/>
          <p:nvPr/>
        </p:nvSpPr>
        <p:spPr>
          <a:xfrm>
            <a:off x="7489595" y="2122621"/>
            <a:ext cx="1668545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hlinkClick r:id="rId4" action="ppaction://hlinksldjump"/>
              </a:rPr>
              <a:t>Sorted by popularity</a:t>
            </a:r>
            <a:r>
              <a:rPr lang="en-US" altLang="zh-CN" dirty="0"/>
              <a:t> </a:t>
            </a:r>
            <a:r>
              <a:rPr lang="en-US" altLang="zh-CN" u="sng" dirty="0">
                <a:solidFill>
                  <a:schemeClr val="accent1"/>
                </a:solidFill>
              </a:rPr>
              <a:t>and</a:t>
            </a:r>
          </a:p>
          <a:p>
            <a:r>
              <a:rPr lang="en-US" altLang="zh-CN" u="sng" dirty="0">
                <a:solidFill>
                  <a:schemeClr val="accent1"/>
                </a:solidFill>
              </a:rPr>
              <a:t>Vote average</a:t>
            </a:r>
            <a:endParaRPr lang="zh-CN" altLang="en-US" u="sng" dirty="0">
              <a:solidFill>
                <a:schemeClr val="accent1"/>
              </a:solidFill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955EDA-ED74-4D30-B9A4-2EFF97797FE9}"/>
              </a:ext>
            </a:extLst>
          </p:cNvPr>
          <p:cNvCxnSpPr>
            <a:cxnSpLocks/>
          </p:cNvCxnSpPr>
          <p:nvPr/>
        </p:nvCxnSpPr>
        <p:spPr>
          <a:xfrm flipH="1" flipV="1">
            <a:off x="8201320" y="1329179"/>
            <a:ext cx="122547" cy="793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F87FE36-9277-4E63-B7BA-75DA8FF03FF8}"/>
              </a:ext>
            </a:extLst>
          </p:cNvPr>
          <p:cNvCxnSpPr>
            <a:cxnSpLocks/>
          </p:cNvCxnSpPr>
          <p:nvPr/>
        </p:nvCxnSpPr>
        <p:spPr>
          <a:xfrm flipH="1">
            <a:off x="8201320" y="3045951"/>
            <a:ext cx="358218" cy="239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EC2C13EA-69F8-4A1A-A800-A627AF957D56}"/>
              </a:ext>
            </a:extLst>
          </p:cNvPr>
          <p:cNvSpPr txBox="1"/>
          <p:nvPr/>
        </p:nvSpPr>
        <p:spPr>
          <a:xfrm>
            <a:off x="8691514" y="4835951"/>
            <a:ext cx="197962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hlinkClick r:id="rId5" action="ppaction://hlinksldjump"/>
              </a:rPr>
              <a:t>Selected by original language</a:t>
            </a:r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BB07139-9839-4ADC-BBE2-9ADB26506FF5}"/>
              </a:ext>
            </a:extLst>
          </p:cNvPr>
          <p:cNvCxnSpPr/>
          <p:nvPr/>
        </p:nvCxnSpPr>
        <p:spPr>
          <a:xfrm flipV="1">
            <a:off x="10689996" y="4835951"/>
            <a:ext cx="801278" cy="329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509F26-B5DC-4BA7-B476-4CB044237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103EB1-B135-4526-B883-33228FC27F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80000">
            <a:off x="815340" y="683404"/>
            <a:ext cx="10561320" cy="5404104"/>
          </a:xfrm>
          <a:prstGeom prst="rect">
            <a:avLst/>
          </a:prstGeom>
          <a:solidFill>
            <a:srgbClr val="FFFFFF"/>
          </a:solidFill>
          <a:ln w="3175" cap="sq" cmpd="thinThick">
            <a:solidFill>
              <a:srgbClr val="DDDDDD"/>
            </a:solidFill>
            <a:miter lim="800000"/>
          </a:ln>
          <a:effectLst>
            <a:outerShdw blurRad="2667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/>
              <a:ea typeface="+mn-ea"/>
              <a:cs typeface="+mn-cs"/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3C2BCB8-7186-4D4F-8FE0-C96D6850B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1112" r="1" b="12321"/>
          <a:stretch/>
        </p:blipFill>
        <p:spPr>
          <a:xfrm rot="21480000">
            <a:off x="1137837" y="1003258"/>
            <a:ext cx="9916327" cy="476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008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509F26-B5DC-4BA7-B476-4CB044237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103EB1-B135-4526-B883-33228FC27F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80000">
            <a:off x="815340" y="683404"/>
            <a:ext cx="10561320" cy="5404104"/>
          </a:xfrm>
          <a:prstGeom prst="rect">
            <a:avLst/>
          </a:prstGeom>
          <a:solidFill>
            <a:srgbClr val="FFFFFF"/>
          </a:solidFill>
          <a:ln w="3175" cap="sq" cmpd="thinThick">
            <a:solidFill>
              <a:srgbClr val="DDDDDD"/>
            </a:solidFill>
            <a:miter lim="800000"/>
          </a:ln>
          <a:effectLst>
            <a:outerShdw blurRad="2667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/>
              <a:ea typeface="+mn-ea"/>
              <a:cs typeface="+mn-cs"/>
            </a:endParaRP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0CDA0044-6468-44B3-8F03-593158B2B8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153" r="-1" b="-1"/>
          <a:stretch/>
        </p:blipFill>
        <p:spPr>
          <a:xfrm rot="21480000">
            <a:off x="1137837" y="1003258"/>
            <a:ext cx="9916327" cy="4764396"/>
          </a:xfrm>
          <a:prstGeom prst="rect">
            <a:avLst/>
          </a:prstGeom>
        </p:spPr>
      </p:pic>
      <p:sp>
        <p:nvSpPr>
          <p:cNvPr id="5" name="文本框 4">
            <a:hlinkClick r:id="" action="ppaction://noaction"/>
            <a:extLst>
              <a:ext uri="{FF2B5EF4-FFF2-40B4-BE49-F238E27FC236}">
                <a16:creationId xmlns:a16="http://schemas.microsoft.com/office/drawing/2014/main" id="{B43CACAA-83C5-4339-8D07-985EEE64F1A1}"/>
              </a:ext>
            </a:extLst>
          </p:cNvPr>
          <p:cNvSpPr txBox="1"/>
          <p:nvPr/>
        </p:nvSpPr>
        <p:spPr>
          <a:xfrm>
            <a:off x="9035844" y="5458993"/>
            <a:ext cx="126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hlinkClick r:id="rId3" action="ppaction://hlinksldjump"/>
              </a:rPr>
              <a:t>back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632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2509F26-B5DC-4BA7-B476-4CB044237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103EB1-B135-4526-B883-33228FC27F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80000">
            <a:off x="815340" y="683404"/>
            <a:ext cx="10561320" cy="5404104"/>
          </a:xfrm>
          <a:prstGeom prst="rect">
            <a:avLst/>
          </a:prstGeom>
          <a:solidFill>
            <a:srgbClr val="FFFFFF"/>
          </a:solidFill>
          <a:ln w="3175" cap="sq" cmpd="thinThick">
            <a:solidFill>
              <a:srgbClr val="DDDDDD"/>
            </a:solidFill>
            <a:miter lim="800000"/>
          </a:ln>
          <a:effectLst>
            <a:outerShdw blurRad="2667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/>
              <a:ea typeface="+mn-ea"/>
              <a:cs typeface="+mn-cs"/>
            </a:endParaRP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9F49E1EC-4459-4FC1-A468-0D9B7ADAC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18" r="5681" b="-2"/>
          <a:stretch/>
        </p:blipFill>
        <p:spPr>
          <a:xfrm rot="21480000">
            <a:off x="1137837" y="1003258"/>
            <a:ext cx="9916327" cy="476439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A7BE1A7-7A0A-489E-8161-C456B7524C2F}"/>
              </a:ext>
            </a:extLst>
          </p:cNvPr>
          <p:cNvSpPr txBox="1"/>
          <p:nvPr/>
        </p:nvSpPr>
        <p:spPr>
          <a:xfrm>
            <a:off x="6656439" y="5329084"/>
            <a:ext cx="113010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hlinkClick r:id="rId3" action="ppaction://hlinksldjump"/>
              </a:rPr>
              <a:t>overview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2952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AB2FAF3C-F36A-4612-B00B-E737FEB1E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23420AEB-7D6F-4338-9CD8-7B96376170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>
                <a:gd name="T0" fmla="*/ 1752 w 2038"/>
                <a:gd name="T1" fmla="*/ 1169 h 1169"/>
                <a:gd name="T2" fmla="*/ 1487 w 2038"/>
                <a:gd name="T3" fmla="*/ 334 h 1169"/>
                <a:gd name="T4" fmla="*/ 860 w 2038"/>
                <a:gd name="T5" fmla="*/ 22 h 1169"/>
                <a:gd name="T6" fmla="*/ 199 w 2038"/>
                <a:gd name="T7" fmla="*/ 318 h 1169"/>
                <a:gd name="T8" fmla="*/ 399 w 2038"/>
                <a:gd name="T9" fmla="*/ 1165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9551E9D5-67C0-42B0-9796-909C1B9DF7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>
                <a:gd name="T0" fmla="*/ 1025 w 1549"/>
                <a:gd name="T1" fmla="*/ 1016 h 1017"/>
                <a:gd name="T2" fmla="*/ 1443 w 1549"/>
                <a:gd name="T3" fmla="*/ 592 h 1017"/>
                <a:gd name="T4" fmla="*/ 782 w 1549"/>
                <a:gd name="T5" fmla="*/ 53 h 1017"/>
                <a:gd name="T6" fmla="*/ 150 w 1549"/>
                <a:gd name="T7" fmla="*/ 329 h 1017"/>
                <a:gd name="T8" fmla="*/ 477 w 1549"/>
                <a:gd name="T9" fmla="*/ 101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7">
              <a:extLst>
                <a:ext uri="{FF2B5EF4-FFF2-40B4-BE49-F238E27FC236}">
                  <a16:creationId xmlns:a16="http://schemas.microsoft.com/office/drawing/2014/main" id="{9CB4C9E0-236E-426D-88FB-50ACF81BC9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>
                <a:gd name="T0" fmla="*/ 1302 w 1688"/>
                <a:gd name="T1" fmla="*/ 1066 h 1066"/>
                <a:gd name="T2" fmla="*/ 1613 w 1688"/>
                <a:gd name="T3" fmla="*/ 850 h 1066"/>
                <a:gd name="T4" fmla="*/ 1517 w 1688"/>
                <a:gd name="T5" fmla="*/ 471 h 1066"/>
                <a:gd name="T6" fmla="*/ 798 w 1688"/>
                <a:gd name="T7" fmla="*/ 28 h 1066"/>
                <a:gd name="T8" fmla="*/ 181 w 1688"/>
                <a:gd name="T9" fmla="*/ 333 h 1066"/>
                <a:gd name="T10" fmla="*/ 420 w 1688"/>
                <a:gd name="T11" fmla="*/ 1066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8">
              <a:extLst>
                <a:ext uri="{FF2B5EF4-FFF2-40B4-BE49-F238E27FC236}">
                  <a16:creationId xmlns:a16="http://schemas.microsoft.com/office/drawing/2014/main" id="{1A11A9AC-1E25-429F-A3A8-67DED3DF45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>
                <a:gd name="T0" fmla="*/ 1873 w 2171"/>
                <a:gd name="T1" fmla="*/ 1326 h 1326"/>
                <a:gd name="T2" fmla="*/ 1609 w 2171"/>
                <a:gd name="T3" fmla="*/ 473 h 1326"/>
                <a:gd name="T4" fmla="*/ 880 w 2171"/>
                <a:gd name="T5" fmla="*/ 63 h 1326"/>
                <a:gd name="T6" fmla="*/ 0 w 2171"/>
                <a:gd name="T7" fmla="*/ 423 h 1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66E126C4-E1AC-4DDC-87CB-5D8B4605C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>
                <a:gd name="T0" fmla="*/ 0 w 106"/>
                <a:gd name="T1" fmla="*/ 0 h 143"/>
                <a:gd name="T2" fmla="*/ 106 w 106"/>
                <a:gd name="T3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B1DE6C75-DCE1-4942-8E8D-ECA1D1773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>
                <a:gd name="T0" fmla="*/ 2046 w 2330"/>
                <a:gd name="T1" fmla="*/ 1452 h 1452"/>
                <a:gd name="T2" fmla="*/ 1813 w 2330"/>
                <a:gd name="T3" fmla="*/ 601 h 1452"/>
                <a:gd name="T4" fmla="*/ 956 w 2330"/>
                <a:gd name="T5" fmla="*/ 97 h 1452"/>
                <a:gd name="T6" fmla="*/ 0 w 2330"/>
                <a:gd name="T7" fmla="*/ 366 h 1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F5459AD3-234D-4C3B-BD9C-92B3377BDB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>
                <a:gd name="T0" fmla="*/ 1094 w 1216"/>
                <a:gd name="T1" fmla="*/ 1436 h 1436"/>
                <a:gd name="T2" fmla="*/ 709 w 1216"/>
                <a:gd name="T3" fmla="*/ 551 h 1436"/>
                <a:gd name="T4" fmla="*/ 0 w 1216"/>
                <a:gd name="T5" fmla="*/ 0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5593DA70-95B1-425C-BF35-F923099D6F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>
                <a:gd name="T0" fmla="*/ 222 w 222"/>
                <a:gd name="T1" fmla="*/ 0 h 129"/>
                <a:gd name="T2" fmla="*/ 0 w 222"/>
                <a:gd name="T3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13">
              <a:extLst>
                <a:ext uri="{FF2B5EF4-FFF2-40B4-BE49-F238E27FC236}">
                  <a16:creationId xmlns:a16="http://schemas.microsoft.com/office/drawing/2014/main" id="{0514C5B5-A5F4-4421-879B-17D39CA64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>
                <a:gd name="T0" fmla="*/ 1067 w 1174"/>
                <a:gd name="T1" fmla="*/ 1440 h 1440"/>
                <a:gd name="T2" fmla="*/ 698 w 1174"/>
                <a:gd name="T3" fmla="*/ 577 h 1440"/>
                <a:gd name="T4" fmla="*/ 0 w 1174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4">
              <a:extLst>
                <a:ext uri="{FF2B5EF4-FFF2-40B4-BE49-F238E27FC236}">
                  <a16:creationId xmlns:a16="http://schemas.microsoft.com/office/drawing/2014/main" id="{E165685F-E0CE-4CA0-9ECE-F8AE4F3D5E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>
                <a:gd name="T0" fmla="*/ 125 w 125"/>
                <a:gd name="T1" fmla="*/ 0 h 74"/>
                <a:gd name="T2" fmla="*/ 0 w 125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C556BC16-0C87-4FD9-A109-F5AB2056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>
                <a:gd name="T0" fmla="*/ 1056 w 1155"/>
                <a:gd name="T1" fmla="*/ 1440 h 1440"/>
                <a:gd name="T2" fmla="*/ 686 w 1155"/>
                <a:gd name="T3" fmla="*/ 580 h 1440"/>
                <a:gd name="T4" fmla="*/ 0 w 1155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DD9A975C-A4CA-4A81-8CA9-BF5A2995F0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>
                <a:gd name="T0" fmla="*/ 75 w 75"/>
                <a:gd name="T1" fmla="*/ 0 h 45"/>
                <a:gd name="T2" fmla="*/ 0 w 75"/>
                <a:gd name="T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5B9767C7-72DF-4C7F-8A04-C8D67B7156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>
                <a:gd name="T0" fmla="*/ 1053 w 1160"/>
                <a:gd name="T1" fmla="*/ 1441 h 1441"/>
                <a:gd name="T2" fmla="*/ 705 w 1160"/>
                <a:gd name="T3" fmla="*/ 599 h 1441"/>
                <a:gd name="T4" fmla="*/ 0 w 1160"/>
                <a:gd name="T5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693F6BB9-0055-42AC-8866-E65D92755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>
                <a:gd name="T0" fmla="*/ 1040 w 1137"/>
                <a:gd name="T1" fmla="*/ 1440 h 1440"/>
                <a:gd name="T2" fmla="*/ 698 w 1137"/>
                <a:gd name="T3" fmla="*/ 611 h 1440"/>
                <a:gd name="T4" fmla="*/ 0 w 1137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BA9A3435-1B30-4618-BB50-E0369BD075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>
                <a:gd name="T0" fmla="*/ 1011 w 1058"/>
                <a:gd name="T1" fmla="*/ 1439 h 1439"/>
                <a:gd name="T2" fmla="*/ 648 w 1058"/>
                <a:gd name="T3" fmla="*/ 617 h 1439"/>
                <a:gd name="T4" fmla="*/ 0 w 1058"/>
                <a:gd name="T5" fmla="*/ 0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2D60252F-2011-4924-81EC-B25F50634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>
                <a:gd name="T0" fmla="*/ 718 w 718"/>
                <a:gd name="T1" fmla="*/ 575 h 575"/>
                <a:gd name="T2" fmla="*/ 0 w 718"/>
                <a:gd name="T3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850B7881-58E3-4C9F-9ADB-04F92D4C4D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>
                <a:gd name="T0" fmla="*/ 620 w 620"/>
                <a:gd name="T1" fmla="*/ 536 h 536"/>
                <a:gd name="T2" fmla="*/ 0 w 620"/>
                <a:gd name="T3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FA90BB2F-2D4A-40BD-90CE-5CF30EC8D4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>
                <a:gd name="T0" fmla="*/ 0 w 455"/>
                <a:gd name="T1" fmla="*/ 0 h 285"/>
                <a:gd name="T2" fmla="*/ 455 w 455"/>
                <a:gd name="T3" fmla="*/ 28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4DA0AE8C-7215-4A64-B19F-3F0F3E6A6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>
                <a:gd name="T0" fmla="*/ 0 w 188"/>
                <a:gd name="T1" fmla="*/ 0 h 112"/>
                <a:gd name="T2" fmla="*/ 188 w 188"/>
                <a:gd name="T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9" name="Isosceles Triangle 39">
            <a:extLst>
              <a:ext uri="{FF2B5EF4-FFF2-40B4-BE49-F238E27FC236}">
                <a16:creationId xmlns:a16="http://schemas.microsoft.com/office/drawing/2014/main" id="{D8DAE7B8-0656-422E-9515-E1095268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892384" y="4386808"/>
            <a:ext cx="407233" cy="351063"/>
          </a:xfrm>
          <a:prstGeom prst="triangle">
            <a:avLst/>
          </a:prstGeom>
          <a:solidFill>
            <a:srgbClr val="FFC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EE47C580-DF24-4527-9478-3F421A2E7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256" y="4617720"/>
            <a:ext cx="8083296" cy="94183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zh-CN" sz="4000">
                <a:hlinkClick r:id="" action="ppaction://noaction"/>
              </a:rPr>
              <a:t>back</a:t>
            </a:r>
            <a:endParaRPr lang="en-US" altLang="zh-CN" sz="400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363DA99-BE95-4C06-82AA-917ED6556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2847" y="954593"/>
            <a:ext cx="6086306" cy="3432215"/>
          </a:xfrm>
          <a:prstGeom prst="rect">
            <a:avLst/>
          </a:prstGeom>
          <a:solidFill>
            <a:schemeClr val="bg1"/>
          </a:solidFill>
          <a:ln w="19050">
            <a:solidFill>
              <a:srgbClr val="FFC16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3E8742ED-322B-4E4F-BB45-59E3BC0A3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693" y="1768919"/>
            <a:ext cx="10514679" cy="1811566"/>
          </a:xfrm>
          <a:prstGeom prst="rect">
            <a:avLst/>
          </a:prstGeom>
        </p:spPr>
      </p:pic>
      <p:sp>
        <p:nvSpPr>
          <p:cNvPr id="70" name="内容占位符 69">
            <a:extLst>
              <a:ext uri="{FF2B5EF4-FFF2-40B4-BE49-F238E27FC236}">
                <a16:creationId xmlns:a16="http://schemas.microsoft.com/office/drawing/2014/main" id="{E13FBA22-3B6D-428B-88C7-9BFFEC0C8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				</a:t>
            </a:r>
            <a:r>
              <a:rPr lang="en-US" altLang="zh-CN" dirty="0">
                <a:hlinkClick r:id="rId3" action="ppaction://hlinksldjump"/>
              </a:rPr>
              <a:t>*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8453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8">
            <a:extLst>
              <a:ext uri="{FF2B5EF4-FFF2-40B4-BE49-F238E27FC236}">
                <a16:creationId xmlns:a16="http://schemas.microsoft.com/office/drawing/2014/main" id="{A2509F26-B5DC-4BA7-B476-4CB044237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/>
              <a:ea typeface="+mn-ea"/>
              <a:cs typeface="+mn-cs"/>
            </a:endParaRPr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DB103EB1-B135-4526-B883-33228FC27F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80000">
            <a:off x="815340" y="683404"/>
            <a:ext cx="10561320" cy="5404104"/>
          </a:xfrm>
          <a:prstGeom prst="rect">
            <a:avLst/>
          </a:prstGeom>
          <a:solidFill>
            <a:srgbClr val="FFFFFF"/>
          </a:solidFill>
          <a:ln w="3175" cap="sq" cmpd="thinThick">
            <a:solidFill>
              <a:srgbClr val="DDDDDD"/>
            </a:solidFill>
            <a:miter lim="800000"/>
          </a:ln>
          <a:effectLst>
            <a:outerShdw blurRad="2667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/>
              <a:ea typeface="+mn-ea"/>
              <a:cs typeface="+mn-cs"/>
            </a:endParaRP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972FFB3-94A5-4BCA-81DC-393CEE577D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" b="7158"/>
          <a:stretch/>
        </p:blipFill>
        <p:spPr>
          <a:xfrm rot="21480000">
            <a:off x="1137837" y="1003258"/>
            <a:ext cx="9916327" cy="476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271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</Words>
  <Application>Microsoft Office PowerPoint</Application>
  <PresentationFormat>宽屏</PresentationFormat>
  <Paragraphs>17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Impact</vt:lpstr>
      <vt:lpstr>Office Theme</vt:lpstr>
      <vt:lpstr>vistul</vt:lpstr>
      <vt:lpstr>PowerPoint 演示文稿</vt:lpstr>
      <vt:lpstr>PowerPoint 演示文稿</vt:lpstr>
      <vt:lpstr>PowerPoint 演示文稿</vt:lpstr>
      <vt:lpstr>PowerPoint 演示文稿</vt:lpstr>
      <vt:lpstr>back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vistul</dc:title>
  <dc:creator>YU Hangyu</dc:creator>
  <cp:lastModifiedBy>YU Hangyu</cp:lastModifiedBy>
  <cp:revision>2</cp:revision>
  <dcterms:created xsi:type="dcterms:W3CDTF">2020-05-13T06:22:19Z</dcterms:created>
  <dcterms:modified xsi:type="dcterms:W3CDTF">2020-05-13T06:26:57Z</dcterms:modified>
</cp:coreProperties>
</file>